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548640"/>
            <a:ext cx="2926080" cy="2926080"/>
          </a:xfrm>
          <a:prstGeom prst="ellipse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24160" y="1280160"/>
            <a:ext cx="2926080" cy="2926080"/>
          </a:xfrm>
          <a:prstGeom prst="ellipse">
            <a:avLst/>
          </a:prstGeom>
          <a:solidFill>
            <a:srgbClr val="3E2C6B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0" y="2926080"/>
            <a:ext cx="1188720" cy="1188720"/>
          </a:xfrm>
          <a:prstGeom prst="ellipse">
            <a:avLst/>
          </a:prstGeom>
          <a:solidFill>
            <a:srgbClr val="B8A9E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B8A9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AGENT ·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业财智能体助手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8A9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 AI 成为业财管理中的协作伙伴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22960" y="4023360"/>
            <a:ext cx="54864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206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DC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一键对话 · 任务自动拆解 · 多模型管理 · 分步执行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6035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产品团队  |  智能体项目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CONTENTS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338560" y="502920"/>
            <a:ext cx="164592" cy="164592"/>
          </a:xfrm>
          <a:prstGeom prst="ellipse">
            <a:avLst/>
          </a:prstGeom>
          <a:solidFill>
            <a:srgbClr val="B8A9E8"/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0" y="502920"/>
            <a:ext cx="164592" cy="164592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业财智能体助手  ·  AI Agent Assistant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5394960" cy="1234440"/>
          </a:xfrm>
          <a:prstGeom prst="rect">
            <a:avLst/>
          </a:prstGeom>
          <a:solidFill>
            <a:srgbClr val="F4F2FB"/>
          </a:solidFill>
          <a:ln w="6350">
            <a:solidFill>
              <a:srgbClr val="E5E1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554480"/>
            <a:ext cx="73152" cy="1234440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719072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920240" y="175564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920240" y="2194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业财工作中的协作痛点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554480"/>
            <a:ext cx="5394960" cy="1234440"/>
          </a:xfrm>
          <a:prstGeom prst="rect">
            <a:avLst/>
          </a:prstGeom>
          <a:solidFill>
            <a:srgbClr val="F4F2FB"/>
          </a:solidFill>
          <a:ln w="6350">
            <a:solidFill>
              <a:srgbClr val="E5E1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554480"/>
            <a:ext cx="73152" cy="1234440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1719072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589520" y="175564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项目目标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589520" y="2194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我们要交付什么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2971800"/>
            <a:ext cx="5394960" cy="1234440"/>
          </a:xfrm>
          <a:prstGeom prst="rect">
            <a:avLst/>
          </a:prstGeom>
          <a:solidFill>
            <a:srgbClr val="F4F2FB"/>
          </a:solidFill>
          <a:ln w="6350">
            <a:solidFill>
              <a:srgbClr val="E5E1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971800"/>
            <a:ext cx="73152" cy="1234440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136392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920240" y="317296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项目内容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920240" y="36118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整体功能架构与模块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2971800"/>
            <a:ext cx="5394960" cy="1234440"/>
          </a:xfrm>
          <a:prstGeom prst="rect">
            <a:avLst/>
          </a:prstGeom>
          <a:solidFill>
            <a:srgbClr val="F4F2FB"/>
          </a:solidFill>
          <a:ln w="6350">
            <a:solidFill>
              <a:srgbClr val="E5E1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2971800"/>
            <a:ext cx="73152" cy="1234440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3136392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589520" y="317296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核心功能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589520" y="36118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六大关键能力解析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389120"/>
            <a:ext cx="5394960" cy="1234440"/>
          </a:xfrm>
          <a:prstGeom prst="rect">
            <a:avLst/>
          </a:prstGeom>
          <a:solidFill>
            <a:srgbClr val="F4F2FB"/>
          </a:solidFill>
          <a:ln w="6350">
            <a:solidFill>
              <a:srgbClr val="E5E1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389120"/>
            <a:ext cx="73152" cy="1234440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4553712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1920240" y="459028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项目价值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920240" y="50292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业务与技术双轮驱动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17920" y="4389120"/>
            <a:ext cx="5394960" cy="1234440"/>
          </a:xfrm>
          <a:prstGeom prst="rect">
            <a:avLst/>
          </a:prstGeom>
          <a:solidFill>
            <a:srgbClr val="F4F2FB"/>
          </a:solidFill>
          <a:ln w="6350">
            <a:solidFill>
              <a:srgbClr val="E5E1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7920" y="4389120"/>
            <a:ext cx="73152" cy="1234440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36" name="Text 34"/>
          <p:cNvSpPr/>
          <p:nvPr/>
        </p:nvSpPr>
        <p:spPr>
          <a:xfrm>
            <a:off x="6446520" y="4553712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7589520" y="459028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应用场景与规划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589520" y="50292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落地路径与未来演进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·  BACKGROUND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338560" y="502920"/>
            <a:ext cx="164592" cy="164592"/>
          </a:xfrm>
          <a:prstGeom prst="ellipse">
            <a:avLst/>
          </a:prstGeom>
          <a:solidFill>
            <a:srgbClr val="B8A9E8"/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0" y="502920"/>
            <a:ext cx="164592" cy="164592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业财智能体助手  ·  AI Agent Assistant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业财管理场景中，大量工作依赖人工整理、跨系统核对与流程推进。AI 智能体的引入，旨在把重复劳动转化为可对话、可拆解、可执行的协作流程。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2606040" cy="3291840"/>
          </a:xfrm>
          <a:prstGeom prst="rect">
            <a:avLst/>
          </a:prstGeom>
          <a:solidFill>
            <a:srgbClr val="F4F2FB"/>
          </a:solidFill>
          <a:ln w="6350">
            <a:solidFill>
              <a:srgbClr val="E5E1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743200"/>
            <a:ext cx="457200" cy="457200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761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◇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3832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任务碎片化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3840480"/>
            <a:ext cx="2103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催收、对账、月结等任务分散在多个系统中，缺少统一入口与跟踪。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37560" y="2468880"/>
            <a:ext cx="2606040" cy="3291840"/>
          </a:xfrm>
          <a:prstGeom prst="rect">
            <a:avLst/>
          </a:prstGeom>
          <a:solidFill>
            <a:srgbClr val="F4F2FB"/>
          </a:solidFill>
          <a:ln w="6350">
            <a:solidFill>
              <a:srgbClr val="E5E1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11880" y="2743200"/>
            <a:ext cx="457200" cy="457200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17" name="Text 15"/>
          <p:cNvSpPr/>
          <p:nvPr/>
        </p:nvSpPr>
        <p:spPr>
          <a:xfrm>
            <a:off x="3611880" y="2761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◇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11880" y="33832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执行靠经验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11880" y="3840480"/>
            <a:ext cx="2103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复杂任务如何拆解、先后顺序如何安排，依赖个人经验，难以复用。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26480" y="2468880"/>
            <a:ext cx="2606040" cy="3291840"/>
          </a:xfrm>
          <a:prstGeom prst="rect">
            <a:avLst/>
          </a:prstGeom>
          <a:solidFill>
            <a:srgbClr val="F4F2FB"/>
          </a:solidFill>
          <a:ln w="6350">
            <a:solidFill>
              <a:srgbClr val="E5E1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2743200"/>
            <a:ext cx="457200" cy="457200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2761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◇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0" y="33832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接入门槛高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0" y="3840480"/>
            <a:ext cx="2103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不同模型 API Key、参数、额度差异大，业务侧难以独立配置与管理。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915400" y="2468880"/>
            <a:ext cx="2606040" cy="3291840"/>
          </a:xfrm>
          <a:prstGeom prst="rect">
            <a:avLst/>
          </a:prstGeom>
          <a:solidFill>
            <a:srgbClr val="F4F2FB"/>
          </a:solidFill>
          <a:ln w="6350">
            <a:solidFill>
              <a:srgbClr val="E5E1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89720" y="2743200"/>
            <a:ext cx="457200" cy="457200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27" name="Text 25"/>
          <p:cNvSpPr/>
          <p:nvPr/>
        </p:nvSpPr>
        <p:spPr>
          <a:xfrm>
            <a:off x="9189720" y="2761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◇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89720" y="33832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对话不可沉淀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89720" y="3840480"/>
            <a:ext cx="2103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 AI 的对话缺乏结构化输出，难以转化为可执行的待办与可追溯的记录。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·  GOALS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项目目标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338560" y="502920"/>
            <a:ext cx="164592" cy="164592"/>
          </a:xfrm>
          <a:prstGeom prst="ellipse">
            <a:avLst/>
          </a:prstGeom>
          <a:solidFill>
            <a:srgbClr val="B8A9E8"/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0" y="502920"/>
            <a:ext cx="164592" cy="164592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业财智能体助手  ·  AI Agent Assistant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围绕「对话即工作」的理念，构建一个轻量、可配置、可沉淀的业财智能体。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3611880" cy="3840480"/>
          </a:xfrm>
          <a:prstGeom prst="rect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5603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5600" dirty="0"/>
          </a:p>
        </p:txBody>
      </p:sp>
      <p:sp>
        <p:nvSpPr>
          <p:cNvPr id="12" name="Shape 10"/>
          <p:cNvSpPr/>
          <p:nvPr/>
        </p:nvSpPr>
        <p:spPr>
          <a:xfrm>
            <a:off x="960120" y="3657600"/>
            <a:ext cx="45720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840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对话即入口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4400" y="43891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E0DC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一个统一对话界面承接业财场景下的提问、规划与执行请求，降低使用门槛。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43400" y="2103120"/>
            <a:ext cx="3611880" cy="3840480"/>
          </a:xfrm>
          <a:prstGeom prst="rect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25603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5600" dirty="0"/>
          </a:p>
        </p:txBody>
      </p:sp>
      <p:sp>
        <p:nvSpPr>
          <p:cNvPr id="17" name="Shape 15"/>
          <p:cNvSpPr/>
          <p:nvPr/>
        </p:nvSpPr>
        <p:spPr>
          <a:xfrm>
            <a:off x="4754880" y="3657600"/>
            <a:ext cx="45720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3840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任务可拆解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709160" y="43891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E0DC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将复杂问题自动拆解为带优先级、标签、子步骤的可执行清单，并可一键导出。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38160" y="2103120"/>
            <a:ext cx="3611880" cy="3840480"/>
          </a:xfrm>
          <a:prstGeom prst="rect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25603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5600" dirty="0"/>
          </a:p>
        </p:txBody>
      </p:sp>
      <p:sp>
        <p:nvSpPr>
          <p:cNvPr id="22" name="Shape 20"/>
          <p:cNvSpPr/>
          <p:nvPr/>
        </p:nvSpPr>
        <p:spPr>
          <a:xfrm>
            <a:off x="8549640" y="3657600"/>
            <a:ext cx="45720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3840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模型可管理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503920" y="43891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E0DC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支持多模型并行接入，API Key 本地加密，参数与额度可视，按需切换。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· 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项目内容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338560" y="502920"/>
            <a:ext cx="164592" cy="164592"/>
          </a:xfrm>
          <a:prstGeom prst="ellipse">
            <a:avLst/>
          </a:prstGeom>
          <a:solidFill>
            <a:srgbClr val="B8A9E8"/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0" y="502920"/>
            <a:ext cx="164592" cy="164592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业财智能体助手  ·  AI Agent Assistant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智能体页面由四大模块构成：对话核心、任务引擎、模型管理与会话沉淀，形成「输入—理解—执行—沉淀」的完整闭环。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4F2FB"/>
          </a:solidFill>
          <a:ln w="12700">
            <a:solidFill>
              <a:srgbClr val="B8A9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1089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对话核心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22960" y="3703320"/>
            <a:ext cx="365760" cy="27432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8620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流式输出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多轮上下文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Markdown 渲染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54680" y="3794760"/>
            <a:ext cx="201168" cy="274320"/>
          </a:xfrm>
          <a:prstGeom prst="rightArrow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246888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4F2FB"/>
          </a:solidFill>
          <a:ln w="12700">
            <a:solidFill>
              <a:srgbClr val="B8A9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0" y="31089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任务引擎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3657600" y="3703320"/>
            <a:ext cx="365760" cy="27432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388620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自动拆解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待办清单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分步执行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89320" y="3794760"/>
            <a:ext cx="201168" cy="274320"/>
          </a:xfrm>
          <a:prstGeom prst="rightArrow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246888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4F2FB"/>
          </a:solidFill>
          <a:ln w="12700">
            <a:solidFill>
              <a:srgbClr val="B8A9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92240" y="31089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模型管理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6492240" y="3703320"/>
            <a:ext cx="365760" cy="27432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388620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多模型接入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Key 加密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额度统计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823960" y="3794760"/>
            <a:ext cx="201168" cy="274320"/>
          </a:xfrm>
          <a:prstGeom prst="rightArrow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52560" y="246888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4F2FB"/>
          </a:solidFill>
          <a:ln w="12700">
            <a:solidFill>
              <a:srgbClr val="B8A9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26880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326880" y="31089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会话沉淀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9326880" y="3703320"/>
            <a:ext cx="365760" cy="27432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32" name="Text 30"/>
          <p:cNvSpPr/>
          <p:nvPr/>
        </p:nvSpPr>
        <p:spPr>
          <a:xfrm>
            <a:off x="9326880" y="388620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会话归档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历史搜索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导出复用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闭环：输入 → AI 理解 → 拆解执行 → 结果沉淀 → 可追溯复用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·  KEY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核心功能 01  ·  智能对话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338560" y="502920"/>
            <a:ext cx="164592" cy="164592"/>
          </a:xfrm>
          <a:prstGeom prst="ellipse">
            <a:avLst/>
          </a:prstGeom>
          <a:solidFill>
            <a:srgbClr val="B8A9E8"/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0" y="502920"/>
            <a:ext cx="164592" cy="164592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业财智能体助手  ·  AI Agent Assistant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流式输出 · 多轮上下文 · Markdown 渲染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对接 OpenAI 兼容协议，回答以流式方式逐字呈现，体验顺滑；上下文按对话维度累积，支持重新生成、删除单条消息与中断输出。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73552"/>
            <a:ext cx="164592" cy="164592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200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流式 token 输出，可中途打断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776472"/>
            <a:ext cx="164592" cy="164592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703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多轮上下文，自动拼接历史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279392"/>
            <a:ext cx="164592" cy="164592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2062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Markdown 与代码块高亮渲染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782312"/>
            <a:ext cx="164592" cy="164592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7091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失败友好提示，支持重新生成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83680" y="1463040"/>
            <a:ext cx="5029200" cy="4480560"/>
          </a:xfrm>
          <a:prstGeom prst="roundRect">
            <a:avLst>
              <a:gd name="adj" fmla="val 2041"/>
            </a:avLst>
          </a:prstGeom>
          <a:solidFill>
            <a:srgbClr val="F4F2FB"/>
          </a:solidFill>
          <a:ln w="6350">
            <a:solidFill>
              <a:srgbClr val="E5E1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1463040"/>
            <a:ext cx="5029200" cy="502920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 · 对话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869680" y="2240280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5B4B8A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帮我规划本周催收任务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0" y="3017520"/>
            <a:ext cx="44805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6350">
            <a:solidFill>
              <a:srgbClr val="E5E1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3154680"/>
            <a:ext cx="4114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好的，已为你梳理本周催收任务：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拉取逾期账单清单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按金额与账期排序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优先联系前 10 大客户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 每日记录跟进结果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995160" y="5440680"/>
            <a:ext cx="109728" cy="109728"/>
          </a:xfrm>
          <a:prstGeom prst="ellipse">
            <a:avLst/>
          </a:prstGeom>
          <a:solidFill>
            <a:srgbClr val="B8A9E8"/>
          </a:solidFill>
          <a:ln/>
        </p:spPr>
      </p:sp>
      <p:sp>
        <p:nvSpPr>
          <p:cNvPr id="27" name="Shape 25"/>
          <p:cNvSpPr/>
          <p:nvPr/>
        </p:nvSpPr>
        <p:spPr>
          <a:xfrm>
            <a:off x="7178040" y="5440680"/>
            <a:ext cx="109728" cy="109728"/>
          </a:xfrm>
          <a:prstGeom prst="ellipse">
            <a:avLst/>
          </a:prstGeom>
          <a:solidFill>
            <a:srgbClr val="B8A9E8"/>
          </a:solidFill>
          <a:ln/>
        </p:spPr>
      </p:sp>
      <p:sp>
        <p:nvSpPr>
          <p:cNvPr id="28" name="Shape 26"/>
          <p:cNvSpPr/>
          <p:nvPr/>
        </p:nvSpPr>
        <p:spPr>
          <a:xfrm>
            <a:off x="7360920" y="5440680"/>
            <a:ext cx="109728" cy="109728"/>
          </a:xfrm>
          <a:prstGeom prst="ellipse">
            <a:avLst/>
          </a:prstGeom>
          <a:solidFill>
            <a:srgbClr val="B8A9E8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·  KEY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核心功能 02  ·  任务自动拆解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338560" y="502920"/>
            <a:ext cx="164592" cy="164592"/>
          </a:xfrm>
          <a:prstGeom prst="ellipse">
            <a:avLst/>
          </a:prstGeom>
          <a:solidFill>
            <a:srgbClr val="B8A9E8"/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0" y="502920"/>
            <a:ext cx="164592" cy="164592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业财智能体助手  ·  AI Agent Assistant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在回答末尾以 JSON 结构输出任务清单，前端解析后呈现为可勾选、可编辑、可导出的待办面板。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5669280" cy="3840480"/>
          </a:xfrm>
          <a:prstGeom prst="roundRect">
            <a:avLst>
              <a:gd name="adj" fmla="val 1905"/>
            </a:avLst>
          </a:prstGeom>
          <a:solidFill>
            <a:srgbClr val="F4F2FB"/>
          </a:solidFill>
          <a:ln w="6350">
            <a:solidFill>
              <a:srgbClr val="E5E1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任务清单  ·  2/4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2880360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3810">
            <a:solidFill>
              <a:srgbClr val="E5E1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3044952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04495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25880" y="29900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trike="sngStrike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拉取逾期账单清单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80560" y="3017520"/>
            <a:ext cx="640080" cy="292608"/>
          </a:xfrm>
          <a:prstGeom prst="roundRect">
            <a:avLst>
              <a:gd name="adj" fmla="val 12500"/>
            </a:avLst>
          </a:prstGeom>
          <a:solidFill>
            <a:srgbClr val="F4F2FB"/>
          </a:solidFill>
          <a:ln w="6350">
            <a:solidFill>
              <a:srgbClr val="B8A9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301752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财务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12080" y="3017520"/>
            <a:ext cx="457200" cy="292608"/>
          </a:xfrm>
          <a:prstGeom prst="roundRect">
            <a:avLst>
              <a:gd name="adj" fmla="val 12500"/>
            </a:avLst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0" y="30175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" y="3566160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3810">
            <a:solidFill>
              <a:srgbClr val="E5E1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" y="3730752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373075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25880" y="36758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trike="sngStrike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按金额与账期排序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80560" y="3703320"/>
            <a:ext cx="640080" cy="292608"/>
          </a:xfrm>
          <a:prstGeom prst="roundRect">
            <a:avLst>
              <a:gd name="adj" fmla="val 12500"/>
            </a:avLst>
          </a:prstGeom>
          <a:solidFill>
            <a:srgbClr val="F4F2FB"/>
          </a:solidFill>
          <a:ln w="6350">
            <a:solidFill>
              <a:srgbClr val="B8A9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0" y="370332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12080" y="3703320"/>
            <a:ext cx="457200" cy="292608"/>
          </a:xfrm>
          <a:prstGeom prst="roundRect">
            <a:avLst>
              <a:gd name="adj" fmla="val 12500"/>
            </a:avLst>
          </a:prstGeom>
          <a:solidFill>
            <a:srgbClr val="5B4B8A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0" y="37033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22960" y="4251960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3810">
            <a:solidFill>
              <a:srgbClr val="E5E1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0120" y="4416552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441655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325880" y="43616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联系前 10 大客户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480560" y="4389120"/>
            <a:ext cx="640080" cy="292608"/>
          </a:xfrm>
          <a:prstGeom prst="roundRect">
            <a:avLst>
              <a:gd name="adj" fmla="val 12500"/>
            </a:avLst>
          </a:prstGeom>
          <a:solidFill>
            <a:srgbClr val="F4F2FB"/>
          </a:solidFill>
          <a:ln w="6350">
            <a:solidFill>
              <a:srgbClr val="B8A9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80560" y="438912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212080" y="4389120"/>
            <a:ext cx="457200" cy="292608"/>
          </a:xfrm>
          <a:prstGeom prst="roundRect">
            <a:avLst>
              <a:gd name="adj" fmla="val 12500"/>
            </a:avLst>
          </a:prstGeom>
          <a:solidFill>
            <a:srgbClr val="F96167"/>
          </a:solidFill>
          <a:ln/>
        </p:spPr>
      </p:sp>
      <p:sp>
        <p:nvSpPr>
          <p:cNvPr id="35" name="Text 33"/>
          <p:cNvSpPr/>
          <p:nvPr/>
        </p:nvSpPr>
        <p:spPr>
          <a:xfrm>
            <a:off x="5212080" y="43891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22960" y="4937760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3810">
            <a:solidFill>
              <a:srgbClr val="E5E1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60120" y="5102352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0120" y="510235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325880" y="50474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每日记录跟进结果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480560" y="5074920"/>
            <a:ext cx="640080" cy="292608"/>
          </a:xfrm>
          <a:prstGeom prst="roundRect">
            <a:avLst>
              <a:gd name="adj" fmla="val 12500"/>
            </a:avLst>
          </a:prstGeom>
          <a:solidFill>
            <a:srgbClr val="F4F2FB"/>
          </a:solidFill>
          <a:ln w="6350">
            <a:solidFill>
              <a:srgbClr val="B8A9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80560" y="507492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212080" y="5074920"/>
            <a:ext cx="457200" cy="292608"/>
          </a:xfrm>
          <a:prstGeom prst="roundRect">
            <a:avLst>
              <a:gd name="adj" fmla="val 12500"/>
            </a:avLst>
          </a:prstGeom>
          <a:solidFill>
            <a:srgbClr val="5B4B8A"/>
          </a:solidFill>
          <a:ln/>
        </p:spPr>
      </p:sp>
      <p:sp>
        <p:nvSpPr>
          <p:cNvPr id="43" name="Text 41"/>
          <p:cNvSpPr/>
          <p:nvPr/>
        </p:nvSpPr>
        <p:spPr>
          <a:xfrm>
            <a:off x="5212080" y="50749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58368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能力点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583680" y="2788920"/>
            <a:ext cx="365760" cy="365760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46" name="Text 44"/>
          <p:cNvSpPr/>
          <p:nvPr/>
        </p:nvSpPr>
        <p:spPr>
          <a:xfrm>
            <a:off x="658368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086600" y="2743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自动结构化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086600" y="3063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末尾输出 JSON，前端解析为主任务 + 子步骤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583680" y="3657600"/>
            <a:ext cx="365760" cy="365760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50" name="Text 48"/>
          <p:cNvSpPr/>
          <p:nvPr/>
        </p:nvSpPr>
        <p:spPr>
          <a:xfrm>
            <a:off x="658368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7086600" y="3611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标签与优先级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086600" y="3931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 工作 / 生活 / 项目 / 财务 四类标签与高 / 中 / 低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6583680" y="4526280"/>
            <a:ext cx="365760" cy="365760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54" name="Text 52"/>
          <p:cNvSpPr/>
          <p:nvPr/>
        </p:nvSpPr>
        <p:spPr>
          <a:xfrm>
            <a:off x="6583680" y="4526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7086600" y="4480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可编辑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7086600" y="4800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勾选、改优先级、设截止时间、增删条目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6583680" y="5394960"/>
            <a:ext cx="365760" cy="365760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58" name="Text 56"/>
          <p:cNvSpPr/>
          <p:nvPr/>
        </p:nvSpPr>
        <p:spPr>
          <a:xfrm>
            <a:off x="6583680" y="5394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7086600" y="5349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一键导出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7086600" y="5669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支持导出为 .txt 与 .csv，便于沉淀到其他系统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·  KEY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核心功能 03  ·  分步执行模式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338560" y="502920"/>
            <a:ext cx="164592" cy="164592"/>
          </a:xfrm>
          <a:prstGeom prst="ellipse">
            <a:avLst/>
          </a:prstGeom>
          <a:solidFill>
            <a:srgbClr val="B8A9E8"/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0" y="502920"/>
            <a:ext cx="164592" cy="164592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业财智能体助手  ·  AI Agent Assistant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开启后，AI 仅对清单中「第一条未完成」的待办给出详细执行结果，完成一项再推进下一项，避免信息过载。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1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2743200"/>
            <a:ext cx="640080" cy="640080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12" name="Text 10"/>
          <p:cNvSpPr/>
          <p:nvPr/>
        </p:nvSpPr>
        <p:spPr>
          <a:xfrm>
            <a:off x="201168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" y="36118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开启分步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011680" y="4114800"/>
            <a:ext cx="640080" cy="2743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29768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会话顶部出现「分步执行」标签，AI 仅处理首条未完成项。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43400" y="237744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1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06440" y="2743200"/>
            <a:ext cx="640080" cy="640080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18" name="Text 16"/>
          <p:cNvSpPr/>
          <p:nvPr/>
        </p:nvSpPr>
        <p:spPr>
          <a:xfrm>
            <a:off x="580644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617720" y="36118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逐步输出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806440" y="4114800"/>
            <a:ext cx="640080" cy="2743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429768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给出当前一步的详细结果并询问是否继续下一条。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138160" y="237744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1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2743200"/>
            <a:ext cx="640080" cy="640080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412480" y="36118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推进下一项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601200" y="4114800"/>
            <a:ext cx="640080" cy="2743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29768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用户确认后，自动推进到下一条未完成待办。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价值：把「一次性长文」拆为「可控节奏的对话」，让 AI 真正成为可指挥的执行者。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·  KEY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核心功能 04  ·  多模型管理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338560" y="502920"/>
            <a:ext cx="164592" cy="164592"/>
          </a:xfrm>
          <a:prstGeom prst="ellipse">
            <a:avLst/>
          </a:prstGeom>
          <a:solidFill>
            <a:srgbClr val="B8A9E8"/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0" y="502920"/>
            <a:ext cx="164592" cy="164592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业财智能体助手  ·  AI Agent Assistant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支持新增多个 OpenAI 兼容模型，分类管理；API Key 本地加密存储，可校验、设默认、按日限额度。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11064240" cy="457200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03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名称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0" y="21031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分类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 ID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6072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接口地址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0" y="21031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0" y="21031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今日调用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789920" y="21031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默认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560320"/>
            <a:ext cx="1106424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5E1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56032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DeepSeek Chat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51760" y="256032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通用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66160" y="256032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deepseek-chat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60720" y="256032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https://api.deepseek.com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0" y="256032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正常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0" y="256032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32 / 100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789920" y="256032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默认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127248"/>
            <a:ext cx="11064240" cy="566928"/>
          </a:xfrm>
          <a:prstGeom prst="rect">
            <a:avLst/>
          </a:prstGeom>
          <a:solidFill>
            <a:srgbClr val="F4F2FB"/>
          </a:solidFill>
          <a:ln w="3810">
            <a:solidFill>
              <a:srgbClr val="E5E1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12724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Claude Sonnet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651760" y="3127248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566160" y="312724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claude-sonnet-4-6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760720" y="312724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https://api.anthropic.com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86800" y="3127248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正常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01200" y="3127248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789920" y="3127248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3694176"/>
            <a:ext cx="1106424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5E1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694176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通义千问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651760" y="3694176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566160" y="3694176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qwen-max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760720" y="3694176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https://dashscope.aliyuncs.com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686800" y="3694176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校验中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601200" y="3694176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50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789920" y="3694176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8640" y="4572000"/>
            <a:ext cx="2606040" cy="1417320"/>
          </a:xfrm>
          <a:prstGeom prst="rect">
            <a:avLst/>
          </a:prstGeom>
          <a:solidFill>
            <a:srgbClr val="F4F2FB"/>
          </a:solidFill>
          <a:ln w="6350">
            <a:solidFill>
              <a:srgbClr val="E5E1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8640" y="4572000"/>
            <a:ext cx="73152" cy="1417320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44" name="Text 42"/>
          <p:cNvSpPr/>
          <p:nvPr/>
        </p:nvSpPr>
        <p:spPr>
          <a:xfrm>
            <a:off x="777240" y="4754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Key 加密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77240" y="51663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AES 本地存储，不上服务端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337560" y="4572000"/>
            <a:ext cx="2606040" cy="1417320"/>
          </a:xfrm>
          <a:prstGeom prst="rect">
            <a:avLst/>
          </a:prstGeom>
          <a:solidFill>
            <a:srgbClr val="F4F2FB"/>
          </a:solidFill>
          <a:ln w="6350">
            <a:solidFill>
              <a:srgbClr val="E5E1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337560" y="4572000"/>
            <a:ext cx="73152" cy="1417320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48" name="Text 46"/>
          <p:cNvSpPr/>
          <p:nvPr/>
        </p:nvSpPr>
        <p:spPr>
          <a:xfrm>
            <a:off x="3566160" y="4754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可校验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3566160" y="51663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一键验证 Key 与参数可用性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126480" y="4572000"/>
            <a:ext cx="2606040" cy="1417320"/>
          </a:xfrm>
          <a:prstGeom prst="rect">
            <a:avLst/>
          </a:prstGeom>
          <a:solidFill>
            <a:srgbClr val="F4F2FB"/>
          </a:solidFill>
          <a:ln w="6350">
            <a:solidFill>
              <a:srgbClr val="E5E1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26480" y="4572000"/>
            <a:ext cx="73152" cy="1417320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52" name="Text 50"/>
          <p:cNvSpPr/>
          <p:nvPr/>
        </p:nvSpPr>
        <p:spPr>
          <a:xfrm>
            <a:off x="6355080" y="4754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按日限流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355080" y="51663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配置每日调用上限，自动计数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915400" y="4572000"/>
            <a:ext cx="2606040" cy="1417320"/>
          </a:xfrm>
          <a:prstGeom prst="rect">
            <a:avLst/>
          </a:prstGeom>
          <a:solidFill>
            <a:srgbClr val="F4F2FB"/>
          </a:solidFill>
          <a:ln w="6350">
            <a:solidFill>
              <a:srgbClr val="E5E1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915400" y="4572000"/>
            <a:ext cx="73152" cy="1417320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56" name="Text 54"/>
          <p:cNvSpPr/>
          <p:nvPr/>
        </p:nvSpPr>
        <p:spPr>
          <a:xfrm>
            <a:off x="9144000" y="4754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灵活切换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9144000" y="51663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会话级选择模型，按需切换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·  KEY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核心功能 05  ·  会话管理与沉淀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338560" y="502920"/>
            <a:ext cx="164592" cy="164592"/>
          </a:xfrm>
          <a:prstGeom prst="ellipse">
            <a:avLst/>
          </a:prstGeom>
          <a:solidFill>
            <a:srgbClr val="B8A9E8"/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0" y="502920"/>
            <a:ext cx="164592" cy="164592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业财智能体助手  ·  AI Agent Assistant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3840480" cy="4572000"/>
          </a:xfrm>
          <a:prstGeom prst="roundRect">
            <a:avLst>
              <a:gd name="adj" fmla="val 1429"/>
            </a:avLst>
          </a:prstGeom>
          <a:solidFill>
            <a:srgbClr val="F4F2FB"/>
          </a:solidFill>
          <a:ln w="6350">
            <a:solidFill>
              <a:srgbClr val="E5E1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554480"/>
            <a:ext cx="3840480" cy="502920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645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 · 会话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2194560"/>
            <a:ext cx="3566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A9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26771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本周催收任务规划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5603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今天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298094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应收逾期原因分析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327355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昨天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369417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月结成本检查清单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98678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6/28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440740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发票批量导入拆解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470001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6/27 · 已归档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51206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对账单字段映射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541324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6/25 · 已归档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1554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会话级能力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846320" y="2148840"/>
            <a:ext cx="329184" cy="329184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1488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03520" y="21031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多会话并行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303520" y="242316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左侧会话列表按时间倒序，点击即可切换，互不干扰。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46320" y="2953512"/>
            <a:ext cx="329184" cy="329184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29535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03520" y="290779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重命名与归档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303520" y="3227832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支持重命名、归档与删除，已归档会话单独分类。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846320" y="3758184"/>
            <a:ext cx="329184" cy="329184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37581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03520" y="371246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清空记忆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303520" y="4032504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保留会话壳的同时清空消息，便于重置上下文。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846320" y="4562856"/>
            <a:ext cx="329184" cy="329184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45628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03520" y="451713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全量搜索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5303520" y="4837176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跨会话关键词搜索消息，快速定位历史讨论。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846320" y="5367528"/>
            <a:ext cx="329184" cy="329184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5367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303520" y="532180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本地持久化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5303520" y="5641848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会话、模型、模板均存储于浏览器 localStorage。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·  KEY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核心功能 06  ·  提示词模板与导出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338560" y="502920"/>
            <a:ext cx="164592" cy="164592"/>
          </a:xfrm>
          <a:prstGeom prst="ellipse">
            <a:avLst/>
          </a:prstGeom>
          <a:solidFill>
            <a:srgbClr val="B8A9E8"/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0" y="502920"/>
            <a:ext cx="164592" cy="164592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业财智能体助手  ·  AI Agent Assistant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提示词模板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内置通用助手 / 财务专家 / 代码工程师三类模板，可自定义新增，会话级一键应用，统一 AI 角色定位。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5486400" cy="841248"/>
          </a:xfrm>
          <a:prstGeom prst="roundRect">
            <a:avLst>
              <a:gd name="adj" fmla="val 6522"/>
            </a:avLst>
          </a:prstGeom>
          <a:solidFill>
            <a:srgbClr val="F4F2FB"/>
          </a:solidFill>
          <a:ln w="6350">
            <a:solidFill>
              <a:srgbClr val="E5E1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926080"/>
            <a:ext cx="73152" cy="841248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0358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通用助手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33649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专业、友好，业财与日常问题均可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3200400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5B4B8A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320040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通用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886200"/>
            <a:ext cx="5486400" cy="841248"/>
          </a:xfrm>
          <a:prstGeom prst="roundRect">
            <a:avLst>
              <a:gd name="adj" fmla="val 6522"/>
            </a:avLst>
          </a:prstGeom>
          <a:solidFill>
            <a:srgbClr val="F4F2FB"/>
          </a:solidFill>
          <a:ln w="6350">
            <a:solidFill>
              <a:srgbClr val="E5E1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886200"/>
            <a:ext cx="73152" cy="841248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9959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财务专家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43251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业财融合、对账、应收应付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4160520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5B4B8A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416052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财务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5486400" cy="841248"/>
          </a:xfrm>
          <a:prstGeom prst="roundRect">
            <a:avLst>
              <a:gd name="adj" fmla="val 6522"/>
            </a:avLst>
          </a:prstGeom>
          <a:solidFill>
            <a:srgbClr val="F4F2FB"/>
          </a:solidFill>
          <a:ln w="6350">
            <a:solidFill>
              <a:srgbClr val="E5E1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846320"/>
            <a:ext cx="73152" cy="841248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9560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代码工程师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52852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Vue 3 / TS / Element Plus 审查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5120640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5B4B8A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51206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83680" y="1463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结果导出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83680" y="18745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任务清单支持复制、导出 .txt 与 .csv，让 AI 输出可被外部系统承接，形成「对话→执行→沉淀」闭环。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583680" y="2926080"/>
            <a:ext cx="5029200" cy="841248"/>
          </a:xfrm>
          <a:prstGeom prst="roundRect">
            <a:avLst>
              <a:gd name="adj" fmla="val 6522"/>
            </a:avLst>
          </a:prstGeom>
          <a:solidFill>
            <a:srgbClr val="F4F2FB"/>
          </a:solidFill>
          <a:ln w="6350">
            <a:solidFill>
              <a:srgbClr val="E5E1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309067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📋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498080" y="30632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一键复制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498080" y="3383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清单结构化文本，粘贴即用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583680" y="3886200"/>
            <a:ext cx="5029200" cy="841248"/>
          </a:xfrm>
          <a:prstGeom prst="roundRect">
            <a:avLst>
              <a:gd name="adj" fmla="val 6522"/>
            </a:avLst>
          </a:prstGeom>
          <a:solidFill>
            <a:srgbClr val="F4F2FB"/>
          </a:solidFill>
          <a:ln w="6350">
            <a:solidFill>
              <a:srgbClr val="E5E1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405079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📄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498080" y="40233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导出 .txt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498080" y="4343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纯文本格式，便于阅读与归档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583680" y="4846320"/>
            <a:ext cx="5029200" cy="841248"/>
          </a:xfrm>
          <a:prstGeom prst="roundRect">
            <a:avLst>
              <a:gd name="adj" fmla="val 6522"/>
            </a:avLst>
          </a:prstGeom>
          <a:solidFill>
            <a:srgbClr val="F4F2FB"/>
          </a:solidFill>
          <a:ln w="6350">
            <a:solidFill>
              <a:srgbClr val="E5E1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66560" y="501091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📊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7498080" y="4983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导出 .csv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498080" y="5303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表格格式，可直接进 Excel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A9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 ·  VALUE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项目价值 · 业务侧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5120640" cy="1965960"/>
          </a:xfrm>
          <a:prstGeom prst="rect">
            <a:avLst/>
          </a:prstGeom>
          <a:solidFill>
            <a:srgbClr val="241F38"/>
          </a:solidFill>
          <a:ln w="6350">
            <a:solidFill>
              <a:srgbClr val="3E2C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031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B8A9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60%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3017520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任务梳理提速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017520" y="265176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9C4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复杂任务自动拆解，省去人工列清单与排序的时间。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920240"/>
            <a:ext cx="5120640" cy="1965960"/>
          </a:xfrm>
          <a:prstGeom prst="rect">
            <a:avLst/>
          </a:prstGeom>
          <a:solidFill>
            <a:srgbClr val="241F38"/>
          </a:solidFill>
          <a:ln w="6350">
            <a:solidFill>
              <a:srgbClr val="3E2C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1031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B8A9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个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8503920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统一入口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503920" y="265176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9C4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对话即工作，告别多系统切换与碎片化记录。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4114800"/>
            <a:ext cx="5120640" cy="1965960"/>
          </a:xfrm>
          <a:prstGeom prst="rect">
            <a:avLst/>
          </a:prstGeom>
          <a:solidFill>
            <a:srgbClr val="241F38"/>
          </a:solidFill>
          <a:ln w="6350">
            <a:solidFill>
              <a:srgbClr val="3E2C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2976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B8A9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3017520" y="4389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后端依赖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017520" y="48463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9C4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模型与历史均存本地，业务侧零部署即可上线。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114800"/>
            <a:ext cx="5120640" cy="1965960"/>
          </a:xfrm>
          <a:prstGeom prst="rect">
            <a:avLst/>
          </a:prstGeom>
          <a:solidFill>
            <a:srgbClr val="241F38"/>
          </a:solidFill>
          <a:ln w="6350">
            <a:solidFill>
              <a:srgbClr val="3E2C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42976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B8A9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∞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8503920" y="4389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场景复用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503920" y="48463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9C4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通过提示词模板适配催收、对账、月结等多场景。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业财智能体助手  ·  让 AI 真正参与工作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 ·  VALUE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项目价值 · 技术侧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338560" y="502920"/>
            <a:ext cx="164592" cy="164592"/>
          </a:xfrm>
          <a:prstGeom prst="ellipse">
            <a:avLst/>
          </a:prstGeom>
          <a:solidFill>
            <a:srgbClr val="B8A9E8"/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0" y="502920"/>
            <a:ext cx="164592" cy="164592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业财智能体助手  ·  AI Agent Assistant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4F2FB"/>
          </a:solidFill>
          <a:ln w="6350">
            <a:solidFill>
              <a:srgbClr val="E5E1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828800"/>
            <a:ext cx="411480" cy="411480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3774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协议兼容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2834640"/>
            <a:ext cx="365760" cy="2743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9718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遵循 OpenAI Chat Completions 协议，可无缝接入 DeepSeek、通义、Claude 等主流模型。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43400" y="155448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4F2FB"/>
          </a:solidFill>
          <a:ln w="6350">
            <a:solidFill>
              <a:srgbClr val="E5E1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1828800"/>
            <a:ext cx="411480" cy="411480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17720" y="23774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前端纯静态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17720" y="2834640"/>
            <a:ext cx="365760" cy="2743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4617720" y="29718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Vue 3 + Pinia + Element Plus，无后端依赖，部署成本极低。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138160" y="155448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4F2FB"/>
          </a:solidFill>
          <a:ln w="6350">
            <a:solidFill>
              <a:srgbClr val="E5E1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12480" y="1828800"/>
            <a:ext cx="411480" cy="411480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12480" y="23774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本地加密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412480" y="2834640"/>
            <a:ext cx="365760" cy="2743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0" y="29718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API Key 加密存储于浏览器，不上传服务端，安全合规。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388620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4F2FB"/>
          </a:solidFill>
          <a:ln w="6350">
            <a:solidFill>
              <a:srgbClr val="E5E1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" y="4160520"/>
            <a:ext cx="411480" cy="411480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160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" y="47091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结构化输出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22960" y="5166360"/>
            <a:ext cx="365760" cy="2743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53035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通过系统提示词约束 AI 输出 JSON，前端解析为可操作对象。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343400" y="388620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4F2FB"/>
          </a:solidFill>
          <a:ln w="6350">
            <a:solidFill>
              <a:srgbClr val="E5E1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17720" y="4160520"/>
            <a:ext cx="411480" cy="411480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35" name="Text 33"/>
          <p:cNvSpPr/>
          <p:nvPr/>
        </p:nvSpPr>
        <p:spPr>
          <a:xfrm>
            <a:off x="4617720" y="4160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617720" y="47091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流式响应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617720" y="5166360"/>
            <a:ext cx="365760" cy="2743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8" name="Text 36"/>
          <p:cNvSpPr/>
          <p:nvPr/>
        </p:nvSpPr>
        <p:spPr>
          <a:xfrm>
            <a:off x="4617720" y="53035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 fetch + AbortController 实现流式输出与可中断。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138160" y="388620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4F2FB"/>
          </a:solidFill>
          <a:ln w="6350">
            <a:solidFill>
              <a:srgbClr val="E5E1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412480" y="4160520"/>
            <a:ext cx="411480" cy="411480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41" name="Text 39"/>
          <p:cNvSpPr/>
          <p:nvPr/>
        </p:nvSpPr>
        <p:spPr>
          <a:xfrm>
            <a:off x="8412480" y="4160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412480" y="47091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可扩展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412480" y="5166360"/>
            <a:ext cx="365760" cy="2743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4" name="Text 42"/>
          <p:cNvSpPr/>
          <p:nvPr/>
        </p:nvSpPr>
        <p:spPr>
          <a:xfrm>
            <a:off x="8412480" y="53035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提示词模板、模型分类、待办标签均为枚举设计，便于扩展新场景。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 ·  SCENARIOS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应用场景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338560" y="502920"/>
            <a:ext cx="164592" cy="164592"/>
          </a:xfrm>
          <a:prstGeom prst="ellipse">
            <a:avLst/>
          </a:prstGeom>
          <a:solidFill>
            <a:srgbClr val="B8A9E8"/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0" y="502920"/>
            <a:ext cx="164592" cy="164592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业财智能体助手  ·  AI Agent Assistant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智能体已在以下业财场景中具备落地条件，可作为日常工作的「AI 协作伙伴」直接介入。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B8A9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103120"/>
            <a:ext cx="3611880" cy="73152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377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A9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45920" y="24231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账单催收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960" y="306324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生成按金额、账期排序的催收清单与跟进话术。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43400" y="2103120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B8A9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2103120"/>
            <a:ext cx="3611880" cy="73152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2377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A9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40680" y="24231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应收分析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617720" y="306324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对话式分析逾期原因，输出结构化风险点。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38160" y="2103120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B8A9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0" y="2103120"/>
            <a:ext cx="3611880" cy="73152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0" y="2377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A9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235440" y="24231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月结检查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412480" y="306324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一键生成月结成本检查清单，逐项核对。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297680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B8A9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297680"/>
            <a:ext cx="3611880" cy="73152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572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A9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645920" y="4617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功能拆解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22960" y="525780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把「上线发票批量导入」等需求拆为可执行步骤。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343400" y="4297680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B8A9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43400" y="4297680"/>
            <a:ext cx="3611880" cy="73152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32" name="Text 30"/>
          <p:cNvSpPr/>
          <p:nvPr/>
        </p:nvSpPr>
        <p:spPr>
          <a:xfrm>
            <a:off x="4617720" y="4572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A9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440680" y="4617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字段映射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4617720" y="525780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协助梳理对账单字段与系统字段的对应关系。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138160" y="4297680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B8A9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38160" y="4297680"/>
            <a:ext cx="3611880" cy="73152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37" name="Text 35"/>
          <p:cNvSpPr/>
          <p:nvPr/>
        </p:nvSpPr>
        <p:spPr>
          <a:xfrm>
            <a:off x="8412480" y="4572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A9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9235440" y="4617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日常问答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8412480" y="525780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业财制度、流程、术语的即问即答助手。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 · 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未来规划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338560" y="502920"/>
            <a:ext cx="164592" cy="164592"/>
          </a:xfrm>
          <a:prstGeom prst="ellipse">
            <a:avLst/>
          </a:prstGeom>
          <a:solidFill>
            <a:srgbClr val="B8A9E8"/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0" y="502920"/>
            <a:ext cx="164592" cy="164592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业财智能体助手  ·  AI Agent Assistant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2960" y="3520440"/>
            <a:ext cx="10515600" cy="36576"/>
          </a:xfrm>
          <a:prstGeom prst="rect">
            <a:avLst/>
          </a:prstGeom>
          <a:solidFill>
            <a:srgbClr val="B8A9E8"/>
          </a:solidFill>
          <a:ln/>
        </p:spPr>
      </p:sp>
      <p:sp>
        <p:nvSpPr>
          <p:cNvPr id="10" name="Shape 8"/>
          <p:cNvSpPr/>
          <p:nvPr/>
        </p:nvSpPr>
        <p:spPr>
          <a:xfrm>
            <a:off x="1920240" y="3383280"/>
            <a:ext cx="320040" cy="320040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11" name="Text 9"/>
          <p:cNvSpPr/>
          <p:nvPr/>
        </p:nvSpPr>
        <p:spPr>
          <a:xfrm>
            <a:off x="1920240" y="3383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103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Q3 2026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468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后端化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402336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引入轻量后端，统一鉴权与模型代理，支持团队共享。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17720" y="3383280"/>
            <a:ext cx="320040" cy="320040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3383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20440" y="2103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Q4 2026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20440" y="2468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工具调用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520440" y="402336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接入 Function Calling，让 AI 直接查询账单与执行操作。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15200" y="3383280"/>
            <a:ext cx="320040" cy="320040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0" y="3383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0" y="2103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Q1 2027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2468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知识库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217920" y="402336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业财制度、SOP 向量化，AI 回答可溯源至文档。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012680" y="3383280"/>
            <a:ext cx="320040" cy="320040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26" name="Text 24"/>
          <p:cNvSpPr/>
          <p:nvPr/>
        </p:nvSpPr>
        <p:spPr>
          <a:xfrm>
            <a:off x="10012680" y="3383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915400" y="2103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4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Q2 2027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915400" y="2468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多智能体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915400" y="402336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催收、对账、月结等子智能体协同，按场景自动调度。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4" name="Shape 2"/>
          <p:cNvSpPr/>
          <p:nvPr/>
        </p:nvSpPr>
        <p:spPr>
          <a:xfrm>
            <a:off x="8961120" y="3840480"/>
            <a:ext cx="4114800" cy="4114800"/>
          </a:xfrm>
          <a:prstGeom prst="ellipse">
            <a:avLst/>
          </a:prstGeom>
          <a:solidFill>
            <a:srgbClr val="3E2C6B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3108960"/>
            <a:ext cx="2743200" cy="2743200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0" y="4389120"/>
            <a:ext cx="1097280" cy="1097280"/>
          </a:xfrm>
          <a:prstGeom prst="ellipse">
            <a:avLst/>
          </a:prstGeom>
          <a:solidFill>
            <a:srgbClr val="B8A9E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B8A9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 AI 成为业财工作的协作伙伴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822960" y="3931920"/>
            <a:ext cx="54864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DC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对话即工作  ·  任务可拆解  ·  模型可管理  ·  结果可沉淀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5943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业财智能体项目团队  |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业财智能体助手</dc:title>
  <dc:subject>PptxGenJS Presentation</dc:subject>
  <dc:creator>AI Product Team</dc:creator>
  <cp:lastModifiedBy>AI Product Team</cp:lastModifiedBy>
  <cp:revision>1</cp:revision>
  <dcterms:created xsi:type="dcterms:W3CDTF">2026-07-01T09:46:43Z</dcterms:created>
  <dcterms:modified xsi:type="dcterms:W3CDTF">2026-07-01T09:46:43Z</dcterms:modified>
</cp:coreProperties>
</file>